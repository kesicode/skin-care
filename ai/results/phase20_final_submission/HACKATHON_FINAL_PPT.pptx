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DERMAAI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Explainable 7-Class Dermoscopic Image Classification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Academic Research Demonstrator Using a Frozen Dual-Model Probability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Strictly For Research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Dermoscopy Challenge: Imbalance &amp; Visual Overlap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Core Dilemmas in Automated Skin Lesion Classification: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• Extreme Class Imbalance: Benign Melanocytic Nevi (nv) outnumber malignant Melanoma (mel) by &gt;6:1.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• Visually Overlapping Categories: Pigment networks and borders share extensive morphological overlap.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• Minority-Class Pitfalls: Standard cross-entropy sacrifices melanoma recall for overall classification accuracy.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• Clinical Disclaimer: This is an image-level academic study; not a certified diagnostic device.</a:t>
            </a:r>
          </a:p>
        </p:txBody>
      </p:sp>
      <p:pic>
        <p:nvPicPr>
          <p:cNvPr id="6" name="Picture 5" descr="FINAL_DATAS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HAM10000 Dataset &amp; Strict Population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Dataset Stratification (Lesion-Level Split, Seed=42):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• Training Cohort: 8,017 images (used for model optimization)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• Validation Cohort: 1,010 images (used for ensemble calibration &amp; Phase 16 Grad-CAM error analysis)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• Held-Out Benchmark Split: 988 images (permanently locked for final evaluation)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Seven Diagnostic Classes: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akiec (Actinic Keratosis), bcc (Basal Cell Carcinoma), bkl (Benign Keratosis), df (Dermatofibroma), mel (Melanoma), nv (Melanocytic Nevus), vasc (Vascular Lesion)</a:t>
            </a:r>
          </a:p>
          <a:p>
            <a:br/>
            <a:pPr>
              <a:defRPr sz="1300" b="1">
                <a:solidFill>
                  <a:srgbClr val="FBBF24"/>
                </a:solidFill>
              </a:defRPr>
            </a:pPr>
            <a:r>
              <a:t>CRITICAL AUDIT NOTE: Validation population (N=1,010) and Benchmark population (N=988) are strictly separated.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15 Controlled Experimental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Scientific Progression Through 15 Hypotheses: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→ Phase 1–2: Baseline Cross-Entropy &amp; Standard Class Weighting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→ Phase 3–7: Data Augmentation &amp; Architectural Variants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→ Phase 8: MobileNetV3 + CBAM + Tempered Weighting (alpha=0.75)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→ Phase 9–12: Schedulers, Heavy Aug, High-Res, ConvNeXt-Tiny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→ Phase 13: Targeted 1.20x Melanoma Relative Weighting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→ Phase 14: Validation-Calibrated Probability Ensemble (85/15)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→ Phase 15: Decision Threshold Verification (theta*=0.50 -&gt; argmax)</a:t>
            </a:r>
          </a:p>
        </p:txBody>
      </p:sp>
      <p:pic>
        <p:nvPicPr>
          <p:cNvPr id="6" name="Picture 5" descr="FINAL_EXPERIMEN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Neural Architecture: MobileNetV3-Large + CBAM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Architecture Specifications: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Backbone: MobileNetV3-Large (Efficient inverted bottleneck blocks)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Attention: Convolutional Block Attention Module (CBAM)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Parameters: 4,326,297 parameters per model (~16.7 MB)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Input Resolution: 224 x 224 RGB image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Execution Efficiency: ~15ms CPU forward pass; edge-deployable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Explainability Hook: model.attention layer (feature shape: 1 x 960 x 7 x 7)</a:t>
            </a:r>
          </a:p>
        </p:txBody>
      </p:sp>
      <p:pic>
        <p:nvPicPr>
          <p:cNvPr id="6" name="Picture 5" descr="FINAL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669280" cy="3307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Final Probability Ensemble: 85% Exp 8 + 15% Exp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Mathematical Formulation: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P_final = 0.85 * P8 + 0.15 * P13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Decision Rule: y_hat = argmax(P_final)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Complementary Dynamics: Exp 8 preserves multiclass precision; Exp 13 boosts melanoma sensitivity.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Calibrated on Validation Set: Grid search over lambda in [0, 1] strictly on N=1,010 validation images.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Zero Retraining: Both models remain completely frozen with SHA-256 verification.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Experiment 15 Check: Threshold tuning (theta*=0.50) confirmed natural argmax optimality.</a:t>
            </a:r>
          </a:p>
        </p:txBody>
      </p:sp>
      <p:pic>
        <p:nvPicPr>
          <p:cNvPr id="6" name="Picture 5" descr="FINAL_ENSEMB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Representative Experimental Comparison</a:t>
            </a:r>
          </a:p>
        </p:txBody>
      </p:sp>
      <p:pic>
        <p:nvPicPr>
          <p:cNvPr id="5" name="Picture 4" descr="FINAL_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45920"/>
            <a:ext cx="10149840" cy="4152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Audited Benchmark Results (N=988 Test Split)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80.57%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4592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75.69%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Balanced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4D399"/>
                </a:solidFill>
              </a:defRPr>
            </a:pPr>
            <a:r>
              <a:t>70.51%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Macro F1-Score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64592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4D399"/>
                </a:solidFill>
              </a:defRPr>
            </a:pPr>
            <a:r>
              <a:t>81.06%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Weighted F1-Score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29184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BBF24"/>
                </a:solidFill>
              </a:defRPr>
            </a:pPr>
            <a:r>
              <a:t>50.94%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Melanoma 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29184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BBF24"/>
                </a:solidFill>
              </a:defRPr>
            </a:pPr>
            <a:r>
              <a:t>52.43%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Melanoma F1-Score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291840"/>
            <a:ext cx="228600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BBF24"/>
                </a:solidFill>
              </a:defRPr>
            </a:pPr>
            <a:r>
              <a:t>54.00%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Melanoma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Benchmark Population: N=988 project HAM10000 held-out test split.</a:t>
            </a:r>
          </a:p>
          <a:p>
            <a:pPr>
              <a:defRPr sz="1300" b="1">
                <a:solidFill>
                  <a:srgbClr val="F87171"/>
                </a:solidFill>
              </a:defRPr>
            </a:pPr>
            <a:r>
              <a:t>IMPORTANT: Image-level research metrics on retrospective dataset. NOT clinical diagnostic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Melanoma Quantitative 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Primary Error Modes on the Benchmark Split: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mel -&gt; nv = 26 cases: Melanomas classified as Melanocytic Nevi (border regularity &amp; early superficial lesions).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mel -&gt; bkl = 19 cases: Melanomas classified as Benign Keratosis (keratotic verrucous appearance).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nv -&gt; mel = 38 cases: Benign Nevi predicted as Melanoma (atypical junctional/dysplastic nevi).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Core Finding: Errors stem from morphological visual overlap between melanocytic classes rather than feature collapse.</a:t>
            </a:r>
          </a:p>
        </p:txBody>
      </p:sp>
      <p:pic>
        <p:nvPicPr>
          <p:cNvPr id="6" name="Picture 5" descr="FINA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754880" cy="3863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Dual Grad-CAM Convolutional Attention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Visual Inspection Targeting the CBAM Attention Layer (model.attention):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Grad-CAM highlights image regions contributing to the selected class score. It is an interpretability aid, not a causal proof.</a:t>
            </a:r>
          </a:p>
        </p:txBody>
      </p:sp>
      <p:pic>
        <p:nvPicPr>
          <p:cNvPr id="6" name="Picture 5" descr="FINAL_GRADCAM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34640"/>
            <a:ext cx="9966960" cy="3322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Working Software Demonstrator: DermaAI</a:t>
            </a:r>
          </a:p>
        </p:txBody>
      </p:sp>
      <p:pic>
        <p:nvPicPr>
          <p:cNvPr id="5" name="Picture 4" descr="3_predi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5836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6459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Interactive Live Pipeline: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1. Image Ingestion: Drag &amp; drop dermoscopic JPG/PNG (&lt;10MB).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2. In-Memory Validation: No patient data saved to disk.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3. Ensemble Forward: Exp 8 &amp; Exp 13 evaluated in parallel.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4. Output Distribution: Calibrated 7-class confidence &amp; Top-3.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5. Dual Attention Heatmaps: Side-by-side CBAM Grad-CAM.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6. Transparent Disclaimer: Visible on all screens.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Transparency &amp; Scientific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Rigorous Reporting of Experimental Limitations: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No External Multi-Center Validation: Evaluated exclusively on the retrospective HAM10000 collection.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Repeated Test-Set Evaluation: Test split was evaluated sequentially across 15 experiments; not prospective data.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Rare-Class Support: Severely limited sample counts for dermatofibroma (df, N=115) and vascular lesions (vasc, N=142).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No Prospective Clinical Trial: Zero clinical validation in healthcare environments or on uncurated smartphone captures.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Population Note: Phase 16 Grad-CAM error analysis used N=1,010 validation images, strictly separate from test benchmark.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Ethical Guardrails &amp; Regulatory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418320" cy="2926080"/>
          </a:xfrm>
          <a:prstGeom prst="rect">
            <a:avLst/>
          </a:prstGeom>
          <a:solidFill>
            <a:srgbClr val="451A0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DE68A"/>
                </a:solidFill>
              </a:defRPr>
            </a:pPr>
            <a:r>
              <a:t>RESEARCH USE ONLY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This software is an academic research demonstrator for image-level classification on retrospective HAM10000 data. It is NOT a certified medical diagnostic device and must NEVER be used as a substitute for professional clinical diagnosis, biopsy, dermoscopic examination, or physician decision-making in patient care.</a:t>
            </a:r>
          </a:p>
          <a:p>
            <a:br/>
            <a:pPr>
              <a:defRPr sz="1200">
                <a:solidFill>
                  <a:srgbClr val="FBBF24"/>
                </a:solidFill>
              </a:defRPr>
            </a:pPr>
            <a:r>
              <a:t>Model predictions may be incorrect. High uncertainty occurs on atypical or minority lesions.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DERMAAI RESEARCH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DermaAI Core Scientific Achievements: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✓ 15 Controlled Experiments: Systematic ablation from baseline CE to tempered weighting and targeted melanoma scaling.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✓ Complementary Probability Ensemble: 85% Exp 8 + 15% Exp 13 delivers 80.57% accuracy and 52.43% melanoma F1.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✓ Attention Explainability: CBAM Grad-CAM exposes spatial attributions and morphological features.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✓ Complete Error Transparency: Quantitative analysis of melanoma confusions (nv: 26, bkl: 19).</a:t>
            </a:r>
          </a:p>
          <a:p>
            <a:pPr>
              <a:defRPr sz="1400">
                <a:solidFill>
                  <a:srgbClr val="34D399"/>
                </a:solidFill>
              </a:defRPr>
            </a:pPr>
            <a:r>
              <a:t>✓ Fully Operational Demonstrator: Modern FastAPI + Next.js web application with containerized Docker deployment.</a:t>
            </a:r>
          </a:p>
          <a:p>
            <a:br/>
            <a:pPr>
              <a:defRPr sz="1400" b="1">
                <a:solidFill>
                  <a:srgbClr val="38BDF8"/>
                </a:solidFill>
              </a:defRPr>
            </a:pPr>
            <a:r>
              <a:t>"DermaAI demonstrates how model performance, transparency, reproducibility, and failure analysis can be integrated into an end-to-end research demonstrator."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HAM10000 | MobileNetV3-Large + CBAM | Probability Ensemble | Research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